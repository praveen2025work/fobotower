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343cbdb-0788-b001-9df8-0ccc39672059}">
          <p14:sldIdLst>
            <p14:sldId id="256"/>
            <p14:sldId id="257"/>
            <p14:sldId id="258"/>
          </p14:sldIdLst>
        </p14:section>
        <p14:section name="What each team gets" id="{af79a281-7c8c-0ffa-c285-7b78a15780ba}">
          <p14:sldIdLst>
            <p14:sldId id="259"/>
            <p14:sldId id="260"/>
            <p14:sldId id="261"/>
          </p14:sldIdLst>
        </p14:section>
        <p14:section name="Common to every team" id="{1094b70b-a09a-7453-d1f4-95f78604011b}">
          <p14:sldIdLst>
            <p14:sldId id="262"/>
            <p14:sldId id="263"/>
          </p14:sldIdLst>
        </p14:section>
        <p14:section name="Getting started" id="{1aa93b51-8e2e-631a-1e31-733118233c99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Helix is one platform where accounting teams run reconciliations, reviews and commentary with AI doing the legwork and people making every decision. This deck covers what each team gets.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Running today on development data: FOBO Prime, FOBO Rates, Cash, Variance commentary, Accruals, Report validation. Ready examples: balance sheet substantiation (runs on dev connectors), intercompany, journal controls, suspense clearing.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engine, same rules for both teams; each team has its own books, reviewers, thresholds and schedule. A new desk is a new configuration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Intercompany needs an intercompany feed; journal controls need a journals feed; suspense clearing needs suspense data and journal-posting access. Each is a configuration file already validated by the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Numbered by effort: the first is configuration only, the third is the one that needs platform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Helix · governed AI for accounting teams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Helix for accounting teams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What each team gets — one governed platform, configured per team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One platform, each team configured its own way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26060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tx2"/>
                </a:solidFill>
              </a:rPr>
              <a:t>6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3774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capabilities and team groups running today on development data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3246120" y="1234440"/>
            <a:ext cx="26060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37160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tx2"/>
                </a:solidFill>
              </a:rPr>
              <a:t>4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3774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ready examples for further teams, waiting only on their data feeds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6035040" y="1234440"/>
            <a:ext cx="26060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37160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tx2"/>
                </a:solidFill>
              </a:rPr>
              <a:t>0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3774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code per new use case: a team is a configuration file, approved four-eyes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611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Each team keeps its own data, rules, thresholds, reviewers and schedule — on the same review screens and controls as everyone else.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Every case runs the same way</a:t>
            </a:r>
            <a:endParaRPr lang="en-US" sz="2800" dirty="0"/>
          </a:p>
        </p:txBody>
      </p:sp>
      <p:sp>
        <p:nvSpPr>
          <p:cNvPr id="3" name="icon-circle"/>
          <p:cNvSpPr/>
          <p:nvPr/>
        </p:nvSpPr>
        <p:spPr>
          <a:xfrm>
            <a:off x="960120" y="12344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1355141"/>
            <a:ext cx="307238" cy="307238"/>
          </a:xfrm>
          <a:prstGeom prst="rect">
            <a:avLst/>
          </a:prstGeom>
        </p:spPr>
      </p:pic>
      <p:sp>
        <p:nvSpPr>
          <p:cNvPr id="5" name="flow-arrow"/>
          <p:cNvSpPr/>
          <p:nvPr/>
        </p:nvSpPr>
        <p:spPr>
          <a:xfrm>
            <a:off x="1600200" y="1508760"/>
            <a:ext cx="100584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6" name="Text 3"/>
          <p:cNvSpPr txBox="1"/>
          <p:nvPr/>
        </p:nvSpPr>
        <p:spPr>
          <a:xfrm>
            <a:off x="457200" y="1920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Data lands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3317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On a schedule or when the source system says it is ready</a:t>
            </a:r>
            <a:endParaRPr lang="en-US" sz="1200" dirty="0"/>
          </a:p>
        </p:txBody>
      </p:sp>
      <p:sp>
        <p:nvSpPr>
          <p:cNvPr id="8" name="icon-circle"/>
          <p:cNvSpPr/>
          <p:nvPr/>
        </p:nvSpPr>
        <p:spPr>
          <a:xfrm>
            <a:off x="2642616" y="12344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3317" y="1355141"/>
            <a:ext cx="307238" cy="307238"/>
          </a:xfrm>
          <a:prstGeom prst="rect">
            <a:avLst/>
          </a:prstGeom>
        </p:spPr>
      </p:pic>
      <p:sp>
        <p:nvSpPr>
          <p:cNvPr id="10" name="flow-arrow"/>
          <p:cNvSpPr/>
          <p:nvPr/>
        </p:nvSpPr>
        <p:spPr>
          <a:xfrm>
            <a:off x="3282696" y="1508760"/>
            <a:ext cx="100584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1" name="Text 7"/>
          <p:cNvSpPr txBox="1"/>
          <p:nvPr/>
        </p:nvSpPr>
        <p:spPr>
          <a:xfrm>
            <a:off x="2139696" y="1920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Matched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2139696" y="23317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Classified by the team's own rules and playbook</a:t>
            </a:r>
            <a:endParaRPr lang="en-US" sz="1200" dirty="0"/>
          </a:p>
        </p:txBody>
      </p:sp>
      <p:sp>
        <p:nvSpPr>
          <p:cNvPr id="13" name="icon-circle"/>
          <p:cNvSpPr/>
          <p:nvPr/>
        </p:nvSpPr>
        <p:spPr>
          <a:xfrm>
            <a:off x="4325112" y="12344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813" y="1355141"/>
            <a:ext cx="307238" cy="307238"/>
          </a:xfrm>
          <a:prstGeom prst="rect">
            <a:avLst/>
          </a:prstGeom>
        </p:spPr>
      </p:pic>
      <p:sp>
        <p:nvSpPr>
          <p:cNvPr id="15" name="flow-arrow"/>
          <p:cNvSpPr/>
          <p:nvPr/>
        </p:nvSpPr>
        <p:spPr>
          <a:xfrm>
            <a:off x="4965192" y="1508760"/>
            <a:ext cx="100584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Text 11"/>
          <p:cNvSpPr txBox="1"/>
          <p:nvPr/>
        </p:nvSpPr>
        <p:spPr>
          <a:xfrm>
            <a:off x="3822192" y="1920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Explained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3822192" y="23317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Rules first, then the model, every figure traced to source</a:t>
            </a:r>
            <a:endParaRPr lang="en-US" sz="1200" dirty="0"/>
          </a:p>
        </p:txBody>
      </p:sp>
      <p:sp>
        <p:nvSpPr>
          <p:cNvPr id="18" name="icon-circle"/>
          <p:cNvSpPr/>
          <p:nvPr/>
        </p:nvSpPr>
        <p:spPr>
          <a:xfrm>
            <a:off x="6007608" y="123444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9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8309" y="1355141"/>
            <a:ext cx="307238" cy="307238"/>
          </a:xfrm>
          <a:prstGeom prst="rect">
            <a:avLst/>
          </a:prstGeom>
        </p:spPr>
      </p:pic>
      <p:sp>
        <p:nvSpPr>
          <p:cNvPr id="20" name="flow-arrow"/>
          <p:cNvSpPr/>
          <p:nvPr/>
        </p:nvSpPr>
        <p:spPr>
          <a:xfrm>
            <a:off x="6647688" y="1508760"/>
            <a:ext cx="100584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Text 15"/>
          <p:cNvSpPr txBox="1"/>
          <p:nvPr/>
        </p:nvSpPr>
        <p:spPr>
          <a:xfrm>
            <a:off x="5504688" y="1920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People decide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5504688" y="23317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One decision per pattern, four-eyes where it matters</a:t>
            </a:r>
            <a:endParaRPr lang="en-US" sz="1200" dirty="0"/>
          </a:p>
        </p:txBody>
      </p:sp>
      <p:sp>
        <p:nvSpPr>
          <p:cNvPr id="23" name="icon-circle"/>
          <p:cNvSpPr/>
          <p:nvPr/>
        </p:nvSpPr>
        <p:spPr>
          <a:xfrm>
            <a:off x="7690104" y="12344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805" y="1355141"/>
            <a:ext cx="307238" cy="30723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187184" y="1920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Released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7187184" y="23317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Recorded; written back only after a second person releases it</a:t>
            </a:r>
            <a:endParaRPr lang="en-US" sz="1200" dirty="0"/>
          </a:p>
        </p:txBody>
      </p:sp>
      <p:sp>
        <p:nvSpPr>
          <p:cNvPr id="27" name="card"/>
          <p:cNvSpPr/>
          <p:nvPr/>
        </p:nvSpPr>
        <p:spPr>
          <a:xfrm>
            <a:off x="457200" y="3611880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685800" y="365760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Then: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tickets to the owning team, deadline reminders, recurring problems flagged, evidence pack and Excel download for audit.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FOBO: CATS vs MOTIF for Prime and Rates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2606040" cy="30632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984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Prime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55648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Prime books, opened 06:30 every business day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Signed off by 11:00 the day after COB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Thresholds not yet confirmed: postings flagged for confirmation</a:t>
            </a:r>
            <a:endParaRPr lang="en-US" sz="1300" dirty="0"/>
          </a:p>
        </p:txBody>
      </p:sp>
      <p:sp>
        <p:nvSpPr>
          <p:cNvPr id="6" name="status"/>
          <p:cNvSpPr/>
          <p:nvPr/>
        </p:nvSpPr>
        <p:spPr>
          <a:xfrm>
            <a:off x="685800" y="384048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384048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Running on dev data</a:t>
            </a:r>
            <a:endParaRPr lang="en-US" sz="1000" dirty="0"/>
          </a:p>
        </p:txBody>
      </p:sp>
      <p:sp>
        <p:nvSpPr>
          <p:cNvPr id="8" name="card"/>
          <p:cNvSpPr/>
          <p:nvPr/>
        </p:nvSpPr>
        <p:spPr>
          <a:xfrm>
            <a:off x="3246120" y="1188720"/>
            <a:ext cx="2606040" cy="30632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2984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Rates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755648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London and New York Rates books, opened 07:15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Signed off by 12:00, own reviewers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Thresholds confirmed: postings go through as proposed</a:t>
            </a:r>
            <a:endParaRPr lang="en-US" sz="1300" dirty="0"/>
          </a:p>
        </p:txBody>
      </p:sp>
      <p:sp>
        <p:nvSpPr>
          <p:cNvPr id="11" name="status"/>
          <p:cNvSpPr/>
          <p:nvPr/>
        </p:nvSpPr>
        <p:spPr>
          <a:xfrm>
            <a:off x="3474720" y="384048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74720" y="384048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Running on dev data</a:t>
            </a:r>
            <a:endParaRPr lang="en-US" sz="1000" dirty="0"/>
          </a:p>
        </p:txBody>
      </p:sp>
      <p:sp>
        <p:nvSpPr>
          <p:cNvPr id="13" name="card"/>
          <p:cNvSpPr/>
          <p:nvPr/>
        </p:nvSpPr>
        <p:spPr>
          <a:xfrm>
            <a:off x="6035040" y="1188720"/>
            <a:ext cx="2651760" cy="3063240"/>
          </a:xfrm>
          <a:prstGeom prst="roundRect">
            <a:avLst>
              <a:gd name="adj" fmla="val 275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63640" y="129844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Shared by both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1755648"/>
            <a:ext cx="22402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FOBO's own playbook: 6 cause checks, 14 validation tests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Verdict per break: post, don't post, escalate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Owning team for every break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Front-office causes never post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Ticket raised for the team that fixes it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Finance, FP&amp;A and reporting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-circle"/>
          <p:cNvSpPr/>
          <p:nvPr/>
        </p:nvSpPr>
        <p:spPr>
          <a:xfrm>
            <a:off x="685800" y="1371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442" y="1482242"/>
            <a:ext cx="281635" cy="2816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34416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Variance commentary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70992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Material variances to budget explained from journal lines; published to the reporting pack after release</a:t>
            </a:r>
            <a:endParaRPr lang="en-US" sz="1200" dirty="0"/>
          </a:p>
        </p:txBody>
      </p:sp>
      <p:sp>
        <p:nvSpPr>
          <p:cNvPr id="8" name="status"/>
          <p:cNvSpPr/>
          <p:nvPr/>
        </p:nvSpPr>
        <p:spPr>
          <a:xfrm>
            <a:off x="1325880" y="2404872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325880" y="240487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Running on dev data</a:t>
            </a:r>
            <a:endParaRPr lang="en-US" sz="1000" dirty="0"/>
          </a:p>
        </p:txBody>
      </p:sp>
      <p:sp>
        <p:nvSpPr>
          <p:cNvPr id="10" name="card"/>
          <p:cNvSpPr/>
          <p:nvPr/>
        </p:nvSpPr>
        <p:spPr>
          <a:xfrm>
            <a:off x="4663440" y="114300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-circle"/>
          <p:cNvSpPr/>
          <p:nvPr/>
        </p:nvSpPr>
        <p:spPr>
          <a:xfrm>
            <a:off x="4892040" y="1371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2682" y="1482242"/>
            <a:ext cx="281635" cy="28163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32120" y="134416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Accruals review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5532120" y="170992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On the 3rd of each month, movements against plan explained; large ones need a second reviewer</a:t>
            </a:r>
            <a:endParaRPr lang="en-US" sz="1200" dirty="0"/>
          </a:p>
        </p:txBody>
      </p:sp>
      <p:sp>
        <p:nvSpPr>
          <p:cNvPr id="15" name="status"/>
          <p:cNvSpPr/>
          <p:nvPr/>
        </p:nvSpPr>
        <p:spPr>
          <a:xfrm>
            <a:off x="5532120" y="2404872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532120" y="240487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Running on dev data</a:t>
            </a:r>
            <a:endParaRPr lang="en-US" sz="1000" dirty="0"/>
          </a:p>
        </p:txBody>
      </p:sp>
      <p:sp>
        <p:nvSpPr>
          <p:cNvPr id="17" name="card"/>
          <p:cNvSpPr/>
          <p:nvPr/>
        </p:nvSpPr>
        <p:spPr>
          <a:xfrm>
            <a:off x="457200" y="292608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icon-circle"/>
          <p:cNvSpPr/>
          <p:nvPr/>
        </p:nvSpPr>
        <p:spPr>
          <a:xfrm>
            <a:off x="685800" y="31546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442" y="3265322"/>
            <a:ext cx="281635" cy="28163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325880" y="31272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Report validation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1325880" y="349300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management report in Excel checked against the ledger; signed PDF published</a:t>
            </a:r>
            <a:endParaRPr lang="en-US" sz="1200" dirty="0"/>
          </a:p>
        </p:txBody>
      </p:sp>
      <p:sp>
        <p:nvSpPr>
          <p:cNvPr id="22" name="status"/>
          <p:cNvSpPr/>
          <p:nvPr/>
        </p:nvSpPr>
        <p:spPr>
          <a:xfrm>
            <a:off x="1325880" y="4187952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1325880" y="418795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Running on dev data</a:t>
            </a:r>
            <a:endParaRPr lang="en-US" sz="1000" dirty="0"/>
          </a:p>
        </p:txBody>
      </p:sp>
      <p:sp>
        <p:nvSpPr>
          <p:cNvPr id="24" name="card"/>
          <p:cNvSpPr/>
          <p:nvPr/>
        </p:nvSpPr>
        <p:spPr>
          <a:xfrm>
            <a:off x="4663440" y="292608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icon-circle"/>
          <p:cNvSpPr/>
          <p:nvPr/>
        </p:nvSpPr>
        <p:spPr>
          <a:xfrm>
            <a:off x="4892040" y="31546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2682" y="3265322"/>
            <a:ext cx="281635" cy="28163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5532120" y="31272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Balance sheet substantiation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5532120" y="349300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Every material balance matched to its filed support; unsupported ones escalated</a:t>
            </a:r>
            <a:endParaRPr lang="en-US" sz="1200" dirty="0"/>
          </a:p>
        </p:txBody>
      </p:sp>
      <p:sp>
        <p:nvSpPr>
          <p:cNvPr id="29" name="status"/>
          <p:cNvSpPr/>
          <p:nvPr/>
        </p:nvSpPr>
        <p:spPr>
          <a:xfrm>
            <a:off x="5532120" y="4187952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532120" y="418795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Ready example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Cash, intercompany and ledger control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-circle"/>
          <p:cNvSpPr/>
          <p:nvPr/>
        </p:nvSpPr>
        <p:spPr>
          <a:xfrm>
            <a:off x="685800" y="1371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442" y="1482242"/>
            <a:ext cx="281635" cy="2816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34416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Cash: bank vs ledger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70992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Small differences proposed for write-off by rule; the rest explained and reviewed</a:t>
            </a:r>
            <a:endParaRPr lang="en-US" sz="1200" dirty="0"/>
          </a:p>
        </p:txBody>
      </p:sp>
      <p:sp>
        <p:nvSpPr>
          <p:cNvPr id="8" name="status"/>
          <p:cNvSpPr/>
          <p:nvPr/>
        </p:nvSpPr>
        <p:spPr>
          <a:xfrm>
            <a:off x="1325880" y="2404872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325880" y="240487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Running on dev data</a:t>
            </a:r>
            <a:endParaRPr lang="en-US" sz="1000" dirty="0"/>
          </a:p>
        </p:txBody>
      </p:sp>
      <p:sp>
        <p:nvSpPr>
          <p:cNvPr id="10" name="card"/>
          <p:cNvSpPr/>
          <p:nvPr/>
        </p:nvSpPr>
        <p:spPr>
          <a:xfrm>
            <a:off x="4663440" y="114300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-circle"/>
          <p:cNvSpPr/>
          <p:nvPr/>
        </p:nvSpPr>
        <p:spPr>
          <a:xfrm>
            <a:off x="4892040" y="1371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2682" y="1482242"/>
            <a:ext cx="281635" cy="28163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32120" y="134416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Intercompany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5532120" y="170992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Receivable matched to payable; FX rounding settled by rule, missing payables chased</a:t>
            </a:r>
            <a:endParaRPr lang="en-US" sz="1200" dirty="0"/>
          </a:p>
        </p:txBody>
      </p:sp>
      <p:sp>
        <p:nvSpPr>
          <p:cNvPr id="15" name="status"/>
          <p:cNvSpPr/>
          <p:nvPr/>
        </p:nvSpPr>
        <p:spPr>
          <a:xfrm>
            <a:off x="5532120" y="2404872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532120" y="240487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Needs its data feed</a:t>
            </a:r>
            <a:endParaRPr lang="en-US" sz="1000" dirty="0"/>
          </a:p>
        </p:txBody>
      </p:sp>
      <p:sp>
        <p:nvSpPr>
          <p:cNvPr id="17" name="card"/>
          <p:cNvSpPr/>
          <p:nvPr/>
        </p:nvSpPr>
        <p:spPr>
          <a:xfrm>
            <a:off x="457200" y="292608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icon-circle"/>
          <p:cNvSpPr/>
          <p:nvPr/>
        </p:nvSpPr>
        <p:spPr>
          <a:xfrm>
            <a:off x="685800" y="31546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442" y="3265322"/>
            <a:ext cx="281635" cy="28163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325880" y="31272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Journal entry controls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1325880" y="349300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Same person posting and approving, closed periods, out-of-hours and round amounts</a:t>
            </a:r>
            <a:endParaRPr lang="en-US" sz="1200" dirty="0"/>
          </a:p>
        </p:txBody>
      </p:sp>
      <p:sp>
        <p:nvSpPr>
          <p:cNvPr id="22" name="status"/>
          <p:cNvSpPr/>
          <p:nvPr/>
        </p:nvSpPr>
        <p:spPr>
          <a:xfrm>
            <a:off x="1325880" y="4187952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1325880" y="418795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Needs its data feed</a:t>
            </a:r>
            <a:endParaRPr lang="en-US" sz="1000" dirty="0"/>
          </a:p>
        </p:txBody>
      </p:sp>
      <p:sp>
        <p:nvSpPr>
          <p:cNvPr id="24" name="card"/>
          <p:cNvSpPr/>
          <p:nvPr/>
        </p:nvSpPr>
        <p:spPr>
          <a:xfrm>
            <a:off x="4663440" y="292608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icon-circle"/>
          <p:cNvSpPr/>
          <p:nvPr/>
        </p:nvSpPr>
        <p:spPr>
          <a:xfrm>
            <a:off x="4892040" y="31546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2682" y="3265322"/>
            <a:ext cx="281635" cy="28163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5532120" y="31272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Suspense clearing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5532120" y="349300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Items aged and explained; clearing journals posted only after a second person releases</a:t>
            </a:r>
            <a:endParaRPr lang="en-US" sz="1200" dirty="0"/>
          </a:p>
        </p:txBody>
      </p:sp>
      <p:sp>
        <p:nvSpPr>
          <p:cNvPr id="29" name="status"/>
          <p:cNvSpPr/>
          <p:nvPr/>
        </p:nvSpPr>
        <p:spPr>
          <a:xfrm>
            <a:off x="5532120" y="4187952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532120" y="418795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Needs its data feed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What every team gets, whatever the process</a:t>
            </a:r>
            <a:endParaRPr lang="en-US" sz="2800" dirty="0"/>
          </a:p>
        </p:txBody>
      </p:sp>
      <p:sp>
        <p:nvSpPr>
          <p:cNvPr id="3" name="icon-circle"/>
          <p:cNvSpPr/>
          <p:nvPr/>
        </p:nvSpPr>
        <p:spPr>
          <a:xfrm>
            <a:off x="457200" y="11430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243584"/>
            <a:ext cx="256032" cy="2560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16128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Work arrives prepared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051560" y="1709928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Opened, matched, classified and explained before anyone starts</a:t>
            </a:r>
            <a:endParaRPr lang="en-US" sz="1200" dirty="0"/>
          </a:p>
        </p:txBody>
      </p:sp>
      <p:sp>
        <p:nvSpPr>
          <p:cNvPr id="7" name="icon-circle"/>
          <p:cNvSpPr/>
          <p:nvPr/>
        </p:nvSpPr>
        <p:spPr>
          <a:xfrm>
            <a:off x="3246120" y="11430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704" y="1243584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840480" y="116128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One decision per pattern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3840480" y="1709928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Approve straightforward groups together; flagged ones one by one</a:t>
            </a:r>
            <a:endParaRPr lang="en-US" sz="1200" dirty="0"/>
          </a:p>
        </p:txBody>
      </p:sp>
      <p:sp>
        <p:nvSpPr>
          <p:cNvPr id="11" name="icon-circle"/>
          <p:cNvSpPr/>
          <p:nvPr/>
        </p:nvSpPr>
        <p:spPr>
          <a:xfrm>
            <a:off x="6035040" y="11430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24" y="1243584"/>
            <a:ext cx="256032" cy="25603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629400" y="116128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Clear review screens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6629400" y="1709928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What is needed, from whom and why; escalations in plain words</a:t>
            </a:r>
            <a:endParaRPr lang="en-US" sz="1200" dirty="0"/>
          </a:p>
        </p:txBody>
      </p:sp>
      <p:sp>
        <p:nvSpPr>
          <p:cNvPr id="15" name="icon-circle"/>
          <p:cNvSpPr/>
          <p:nvPr/>
        </p:nvSpPr>
        <p:spPr>
          <a:xfrm>
            <a:off x="457200" y="28803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" y="2980944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51560" y="289864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Controls built in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051560" y="3447288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Four-eyes, confirmations, maker-checker, release by a second person</a:t>
            </a:r>
            <a:endParaRPr lang="en-US" sz="1200" dirty="0"/>
          </a:p>
        </p:txBody>
      </p:sp>
      <p:sp>
        <p:nvSpPr>
          <p:cNvPr id="19" name="icon-circle"/>
          <p:cNvSpPr/>
          <p:nvPr/>
        </p:nvSpPr>
        <p:spPr>
          <a:xfrm>
            <a:off x="3246120" y="28803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6704" y="2980944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3840480" y="289864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Follow-through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3840480" y="3447288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Tickets to the owning team, deadlines, recurring problems flagged</a:t>
            </a:r>
            <a:endParaRPr lang="en-US" sz="1200" dirty="0"/>
          </a:p>
        </p:txBody>
      </p:sp>
      <p:sp>
        <p:nvSpPr>
          <p:cNvPr id="23" name="icon-circle"/>
          <p:cNvSpPr/>
          <p:nvPr/>
        </p:nvSpPr>
        <p:spPr>
          <a:xfrm>
            <a:off x="6035040" y="28803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5624" y="2980944"/>
            <a:ext cx="256032" cy="256032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629400" y="289864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Audit and outputs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6629400" y="3447288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Evidence pack, Excel download, cover while away, hours saved measured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For technology and risk: one platform to run</a:t>
            </a:r>
            <a:endParaRPr lang="en-US" sz="2800" dirty="0"/>
          </a:p>
        </p:txBody>
      </p:sp>
      <p:sp>
        <p:nvSpPr>
          <p:cNvPr id="3" name="icon-circle"/>
          <p:cNvSpPr/>
          <p:nvPr/>
        </p:nvSpPr>
        <p:spPr>
          <a:xfrm>
            <a:off x="457200" y="109728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4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842" y="1207922"/>
            <a:ext cx="281635" cy="28163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07899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Entitlements on every data access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139903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Each call checked against the person's roles and data scope, and logged</a:t>
            </a:r>
            <a:endParaRPr lang="en-US" sz="1300" dirty="0"/>
          </a:p>
        </p:txBody>
      </p:sp>
      <p:sp>
        <p:nvSpPr>
          <p:cNvPr id="7" name="icon-circle"/>
          <p:cNvSpPr/>
          <p:nvPr/>
        </p:nvSpPr>
        <p:spPr>
          <a:xfrm>
            <a:off x="457200" y="196596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842" y="2076602"/>
            <a:ext cx="281635" cy="28163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19476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Sensitive data masked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226771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Account numbers masked and counterparties pseudonymised before the model sees anything</a:t>
            </a:r>
            <a:endParaRPr lang="en-US" sz="1300" dirty="0"/>
          </a:p>
        </p:txBody>
      </p:sp>
      <p:sp>
        <p:nvSpPr>
          <p:cNvPr id="11" name="icon-circle"/>
          <p:cNvSpPr/>
          <p:nvPr/>
        </p:nvSpPr>
        <p:spPr>
          <a:xfrm>
            <a:off x="457200" y="283464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842" y="2945282"/>
            <a:ext cx="281635" cy="28163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43000" y="281635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Cost caps and off switches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143000" y="313639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Spend capped per case and per day; any capability, team or connector off in one click</a:t>
            </a:r>
            <a:endParaRPr lang="en-US" sz="1300" dirty="0"/>
          </a:p>
        </p:txBody>
      </p:sp>
      <p:sp>
        <p:nvSpPr>
          <p:cNvPr id="15" name="icon-circle"/>
          <p:cNvSpPr/>
          <p:nvPr/>
        </p:nvSpPr>
        <p:spPr>
          <a:xfrm>
            <a:off x="457200" y="370332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6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842" y="3813962"/>
            <a:ext cx="281635" cy="28163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43000" y="368503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Tested before it goes live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1143000" y="400507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New versions replayed on past decisions; promoted between environments and approved again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Bringing on a new team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260604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019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Same kind of work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677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Another reconciliation, say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060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One configuration file on an existing capability, approved by the team's second owner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3246120" y="1188720"/>
            <a:ext cx="260604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2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9019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New kind of work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2677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A new review or control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6060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Drafted from a written requirement or template, checked by the platform, live after a second owner approves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6035040" y="1188720"/>
            <a:ext cx="260604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6364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3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19019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New data source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22677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A system not yet connected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6060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Connected once by the platform team; after that every team uses it through configuration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Where we are, and next steps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chemeClr val="accent1"/>
                </a:solidFill>
              </a:rPr>
              <a:t>Today: running end to end on development data with a stand-in model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chemeClr val="accent1"/>
                </a:solidFill>
              </a:rPr>
              <a:t>To go live: office connectors (CATS, MOTIF, ledger), the real model, SSO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chemeClr val="accent1"/>
                </a:solidFill>
              </a:rPr>
              <a:t>Proposed: pilot FOBO Prime and Rates, measure hours saved, then accruals and substantiation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lix Navy">
  <a:themeElements>
    <a:clrScheme name="Helix Navy">
      <a:dk1>
        <a:srgbClr val="1B2430"/>
      </a:dk1>
      <a:lt1>
        <a:srgbClr val="FFFFFF"/>
      </a:lt1>
      <a:dk2>
        <a:srgbClr val="00395D"/>
      </a:dk2>
      <a:lt2>
        <a:srgbClr val="EEF4F8"/>
      </a:lt2>
      <a:accent1>
        <a:srgbClr val="00AEEF"/>
      </a:accent1>
      <a:accent2>
        <a:srgbClr val="00395D"/>
      </a:accent2>
      <a:accent3>
        <a:srgbClr val="0B7A5A"/>
      </a:accent3>
      <a:accent4>
        <a:srgbClr val="C77700"/>
      </a:accent4>
      <a:accent5>
        <a:srgbClr val="6B3FA0"/>
      </a:accent5>
      <a:accent6>
        <a:srgbClr val="B42318"/>
      </a:accent6>
      <a:hlink>
        <a:srgbClr val="007EB6"/>
      </a:hlink>
      <a:folHlink>
        <a:srgbClr val="6B3FA0"/>
      </a:folHlink>
    </a:clrScheme>
    <a:fontScheme name="Helix Navy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Helix — what we offer each accounting team</dc:title>
  <dc:subject>PptxGenJS Presentation</dc:subject>
  <dc:creator>Helix</dc:creator>
  <cp:lastModifiedBy>Helix</cp:lastModifiedBy>
  <cp:revision>1</cp:revision>
  <dcterms:created xsi:type="dcterms:W3CDTF">2026-10-04T15:35:23Z</dcterms:created>
  <dcterms:modified xsi:type="dcterms:W3CDTF">2026-10-04T15:35:23Z</dcterms:modified>
</cp:coreProperties>
</file>